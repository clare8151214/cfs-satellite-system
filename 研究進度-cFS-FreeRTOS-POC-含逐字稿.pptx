
<file path=[Content_Types].xml><?xml version="1.0" encoding="utf-8"?>
<ns0:Types xmlns:ns0="http://schemas.openxmlformats.org/package/2006/content-types">
  <ns0:Default Extension="jpeg" ContentType="image/jpe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id="2147483648" r:id="rId12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>
          <ns3:clr>
            <a:srgbClr val="A4A3A4"/>
          </ns3:clr>
        </ns3:guide>
        <ns3:guide id="2" pos="2880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tableStyles" Target="tableStyles.xml" /><ns0:Relationship Id="rId5" Type="http://schemas.openxmlformats.org/officeDocument/2006/relationships/slide" Target="slides/slide4.xml" /><ns0:Relationship Id="rId10" Type="http://schemas.openxmlformats.org/officeDocument/2006/relationships/theme" Target="theme/theme1.xml" /><ns0:Relationship Id="rId4" Type="http://schemas.openxmlformats.org/officeDocument/2006/relationships/slide" Target="slides/slide3.xml" /><ns0:Relationship Id="rId9" Type="http://schemas.openxmlformats.org/officeDocument/2006/relationships/viewProps" Target="viewProps.xml" /><ns0:Relationship Id="rId12" Type="http://schemas.openxmlformats.org/officeDocument/2006/relationships/notesMaster" Target="notesMasters/notesMaster1.xml" /></ns0:Relationships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1.xml" /></ns0: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?>
<ns0:Relationships xmlns:ns0="http://schemas.openxmlformats.org/package/2006/relationships"><ns0:Relationship Id="rId1" Type="http://schemas.openxmlformats.org/officeDocument/2006/relationships/slide" Target="../slides/slide1.xml" /><ns0:Relationship Id="rId2" Type="http://schemas.openxmlformats.org/officeDocument/2006/relationships/notesMaster" Target="../notesMasters/notesMaster1.xml" /></ns0:Relationships>
</file>

<file path=ppt/notesSlides/_rels/notesSlide2.xml.rels><?xml version='1.0' encoding='utf-8'?>
<ns0:Relationships xmlns:ns0="http://schemas.openxmlformats.org/package/2006/relationships"><ns0:Relationship Id="rId1" Type="http://schemas.openxmlformats.org/officeDocument/2006/relationships/slide" Target="../slides/slide2.xml" /><ns0:Relationship Id="rId2" Type="http://schemas.openxmlformats.org/officeDocument/2006/relationships/notesMaster" Target="../notesMasters/notesMaster1.xml" /></ns0:Relationships>
</file>

<file path=ppt/notesSlides/_rels/notesSlide3.xml.rels><?xml version='1.0' encoding='utf-8'?>
<ns0:Relationships xmlns:ns0="http://schemas.openxmlformats.org/package/2006/relationships"><ns0:Relationship Id="rId1" Type="http://schemas.openxmlformats.org/officeDocument/2006/relationships/slide" Target="../slides/slide3.xml" /><ns0:Relationship Id="rId2" Type="http://schemas.openxmlformats.org/officeDocument/2006/relationships/notesMaster" Target="../notesMasters/notesMaster1.xml" /></ns0:Relationships>
</file>

<file path=ppt/notesSlides/_rels/notesSlide4.xml.rels><?xml version='1.0' encoding='utf-8'?>
<ns0:Relationships xmlns:ns0="http://schemas.openxmlformats.org/package/2006/relationships"><ns0:Relationship Id="rId1" Type="http://schemas.openxmlformats.org/officeDocument/2006/relationships/slide" Target="../slides/slide4.xml" /><ns0:Relationship Id="rId2" Type="http://schemas.openxmlformats.org/officeDocument/2006/relationships/notesMaster" Target="../notesMasters/notesMaster1.xml" /></ns0:Relationships>
</file>

<file path=ppt/notesSlides/_rels/notesSlide5.xml.rels><?xml version='1.0' encoding='utf-8'?>
<ns0:Relationships xmlns:ns0="http://schemas.openxmlformats.org/package/2006/relationships"><ns0:Relationship Id="rId1" Type="http://schemas.openxmlformats.org/officeDocument/2006/relationships/slide" Target="../slides/slide5.xml" /><ns0:Relationship Id="rId2" Type="http://schemas.openxmlformats.org/officeDocument/2006/relationships/notesMaster" Target="../notesMasters/notesMaster1.xml" /></ns0:Relationships>
</file>

<file path=ppt/notesSlides/_rels/notesSlide6.xml.rels><?xml version='1.0' encoding='utf-8'?>
<ns0:Relationships xmlns:ns0="http://schemas.openxmlformats.org/package/2006/relationships"><ns0:Relationship Id="rId1" Type="http://schemas.openxmlformats.org/officeDocument/2006/relationships/slide" Target="../slides/slide6.xml" /><ns0:Relationship Id="rId2" Type="http://schemas.openxmlformats.org/officeDocument/2006/relationships/notesMaster" Target="../notesMasters/notesMaster1.xml" /></ns0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1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zh-TW" sz="1200" dirty="0"/>
              <a:t>各位老師好，今天要報告的是目前 cFS 衛星系統移植到 FreeRTOS 的研究進度。</a:t>
            </a:r>
            <a:endParaRPr lang="zh-TW" sz="1200"/>
          </a:p>
          <a:p>
            <a:r>
              <a:rPr lang="zh-TW" sz="1200" dirty="0"/>
              <a:t>我們原本的衛星端是以 Ubuntu ARM64 虛擬機作為執行環境，現在的研究方向是把這個衛星端概念改成 FreeRTOS，並且保留 cFS/cFE 的核心架構。</a:t>
            </a:r>
            <a:endParaRPr lang="zh-TW" sz="1200"/>
          </a:p>
          <a:p>
            <a:r>
              <a:rPr lang="zh-TW" sz="1200" dirty="0"/>
              <a:t>目前我們已經做到一個可展示的 POC：cFE 可以在 QEMU 模擬的 ARM Cortex-M3 上啟動，mission app 可以被 cFE 載入並執行，同時也能把衛星任務遙測送回 cFS-GroundSystem 地面站。</a:t>
            </a:r>
            <a:endParaRPr lang="zh-TW" sz="1200"/>
          </a:p>
          <a:p>
            <a:r>
              <a:rPr lang="zh-TW" sz="1200" dirty="0"/>
              <a:t>這份簡報會依序說明研究目標、目前架構、已完成項目、展示方式，以及目前限制與下一步。</a:t>
            </a:r>
            <a:endParaRPr lang="zh-TW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1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zh-TW" sz="1200" dirty="0"/>
              <a:t>這一頁主要說明研究目標。</a:t>
            </a:r>
            <a:endParaRPr lang="zh-TW" sz="1200"/>
          </a:p>
          <a:p>
            <a:r>
              <a:rPr lang="zh-TW" sz="1200" dirty="0"/>
              <a:t>原本的衛星系統是在 Ubuntu ARM64 VM 上執行。這樣的環境比較接近一般 Linux 系統，可以使用 Linux 的 socket、filesystem 等功能。</a:t>
            </a:r>
            <a:endParaRPr lang="zh-TW" sz="1200"/>
          </a:p>
          <a:p>
            <a:r>
              <a:rPr lang="zh-TW" sz="1200" dirty="0"/>
              <a:t>但是老師希望我們往 FreeRTOS 的方向研究，也就是讓衛星端更接近即時作業系統的環境。這件事不是單純把程式複製過去，因為 FreeRTOS 和 Ubuntu 在系統資源、檔案系統、網路支援、動態載入能力上都有差異。</a:t>
            </a:r>
            <a:endParaRPr lang="zh-TW" sz="1200"/>
          </a:p>
          <a:p>
            <a:r>
              <a:rPr lang="zh-TW" sz="1200" dirty="0"/>
              <a:t>所以這次 POC 的目標分成三個層次。第一，確認 cFE 可以在 FreeRTOS target 上開機。第二，讓 cFE 真的啟動一個 mission app。第三，讓這個 mission app 的資料可以回到 cFS-GroundSystem，形成一個可以展示的衛星端到地面站資料流。</a:t>
            </a:r>
            <a:endParaRPr lang="zh-TW" sz="1200"/>
          </a:p>
          <a:p>
            <a:r>
              <a:rPr lang="zh-TW" sz="1200" dirty="0"/>
              <a:t>目前這三個層次都已經有初步成果。</a:t>
            </a:r>
            <a:endParaRPr lang="zh-TW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1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zh-TW" sz="1200" dirty="0"/>
              <a:t>這一頁是目前系統架構。</a:t>
            </a:r>
            <a:endParaRPr lang="zh-TW" sz="1200"/>
          </a:p>
          <a:p>
            <a:r>
              <a:rPr lang="zh-TW" sz="1200" dirty="0"/>
              <a:t>右邊是衛星端，也就是 QEMU 模擬的 ARM Cortex-M3，machine 使用的是 mps2-an385。裡面執行的是 FreeRTOS image，產出的核心檔案是 core-mps2。</a:t>
            </a:r>
            <a:endParaRPr lang="zh-TW" sz="1200"/>
          </a:p>
          <a:p>
            <a:r>
              <a:rPr lang="zh-TW" sz="1200" dirty="0"/>
              <a:t>FreeRTOS image 裡面包含 cFE、OSAL、PSP，以及我們新增的 SAT_SAMPLE_APP。這個 app 現在不是單純 heartbeat，而是會輸出 Satellite Mission HK，也就是任務狀態遙測，例如模式、狀態、執行時間、payload sample 數量，以及 battery percent。</a:t>
            </a:r>
            <a:endParaRPr lang="zh-TW" sz="1200"/>
          </a:p>
          <a:p>
            <a:r>
              <a:rPr lang="zh-TW" sz="1200" dirty="0"/>
              <a:t>中間是 satellite-ground-bridge.py。因為目前這個 FreeRTOS port 的 OSAL socket 還沒有完成，所以我們先用 host-side bridge 做 POC 串接。bridge 會讀取 QEMU console 裡的 SAT_MISSION_HK 輸出，轉成 cFS-GroundSystem 可以接收的 UDP telemetry packet。</a:t>
            </a:r>
            <a:endParaRPr lang="zh-TW" sz="1200"/>
          </a:p>
          <a:p>
            <a:r>
              <a:rPr lang="zh-TW" sz="1200" dirty="0"/>
              <a:t>左邊是地面站，也就是 cFS-GroundSystem。RoutingService.py 會接收 UDP 2234 的 telemetry，再透過 ZeroMQ 發給 Telemetry GUI。Command GUI 則會送 UDP 1234 的 command 到 bridge。</a:t>
            </a:r>
            <a:endParaRPr lang="zh-TW" sz="1200"/>
          </a:p>
          <a:p>
            <a:r>
              <a:rPr lang="zh-TW" sz="1200" dirty="0"/>
              <a:t>所以目前的資料流是：mission app 產生遙測，bridge 轉成 UDP 2234 給地面站；地面站送 command 到 UDP 1234，bridge 接收後回傳 command ACK telemetry。</a:t>
            </a:r>
            <a:endParaRPr lang="zh-TW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1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zh-TW" sz="1200" dirty="0"/>
              <a:t>這一頁列出目前已完成的項目。</a:t>
            </a:r>
            <a:endParaRPr lang="zh-TW" sz="1200"/>
          </a:p>
          <a:p>
            <a:r>
              <a:rPr lang="zh-TW" sz="1200" dirty="0"/>
              <a:t>第一，FreeRTOS cFE boot 已經完成。cFE 可以在 QEMU Cortex-M3 上啟動，而且可以進入 OPERATIONAL state。</a:t>
            </a:r>
            <a:endParaRPr lang="zh-TW" sz="1200"/>
          </a:p>
          <a:p>
            <a:r>
              <a:rPr lang="zh-TW" sz="1200" dirty="0"/>
              <a:t>第二，我們補上了 /cf/cfe_es_startup.scr。因為 FreeRTOS 這個 port 的 filesystem 還不完整，所以我們用 embedded startup script 的方式，讓 cFE 啟動時可以找到 startup script。</a:t>
            </a:r>
            <a:endParaRPr lang="zh-TW" sz="1200"/>
          </a:p>
          <a:p>
            <a:r>
              <a:rPr lang="zh-TW" sz="1200" dirty="0"/>
              <a:t>第三，mission app 已經可以被 cFE 啟動。原本只是 heartbeat sample，現在改成 Satellite Mission HK app，會模擬 SAFE mode 進入 NOMINAL mode，並持續輸出 mission telemetry。</a:t>
            </a:r>
            <a:endParaRPr lang="zh-TW" sz="1200"/>
          </a:p>
          <a:p>
            <a:r>
              <a:rPr lang="zh-TW" sz="1200" dirty="0"/>
              <a:t>第四，我們補強了 FreeRTOS loader stub。cFE 啟動 static app 時需要 module load 和 symbol lookup，但這個 FreeRTOS port 原本沒有完整 dynamic loader，所以我們讓它可以查 static module 和 static symbol。</a:t>
            </a:r>
            <a:endParaRPr lang="zh-TW" sz="1200"/>
          </a:p>
          <a:p>
            <a:r>
              <a:rPr lang="zh-TW" sz="1200" dirty="0"/>
              <a:t>第五，加入了 Ground bridge。bridge 會把 QEMU console 的 mission telemetry 轉成 UDP telemetry，並監聽 GroundSystem 的 command port。</a:t>
            </a:r>
            <a:endParaRPr lang="zh-TW" sz="1200"/>
          </a:p>
          <a:p>
            <a:r>
              <a:rPr lang="zh-TW" sz="1200" dirty="0"/>
              <a:t>第六，GroundSystem 端也有新增頁面。Telemetry System 裡有 Satellite Mission HK，Command System 裡也有 Satellite Mission command entry。</a:t>
            </a:r>
            <a:endParaRPr lang="zh-TW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1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zh-TW" sz="1200" dirty="0"/>
              <a:t>這一頁是展示流程和驗證方式。</a:t>
            </a:r>
            <a:endParaRPr lang="zh-TW" sz="1200"/>
          </a:p>
          <a:p>
            <a:r>
              <a:rPr lang="zh-TW" sz="1200" dirty="0"/>
              <a:t>展示時需要開兩個 terminal。</a:t>
            </a:r>
            <a:endParaRPr lang="zh-TW" sz="1200"/>
          </a:p>
          <a:p>
            <a:r>
              <a:rPr lang="zh-TW" sz="1200" dirty="0"/>
              <a:t>第一個 terminal 啟動地面站，指令是 cd 到 cFS-GroundSystem，然後執行 python3 GroundSystem.py。這會開啟 cFS-GroundSystem 主畫面，同時 RoutingService 會開始等待 UDP telemetry。</a:t>
            </a:r>
            <a:endParaRPr lang="zh-TW" sz="1200"/>
          </a:p>
          <a:p>
            <a:r>
              <a:rPr lang="zh-TW" sz="1200" dirty="0"/>
              <a:t>第二個 terminal 啟動 FreeRTOS 衛星 POC，指令是 cd 到 cfs-freertos-satellite，然後執行 ./start-satellite-freertos-poc.sh。這個腳本預設會透過 satellite-ground-bridge.py 啟動 QEMU。</a:t>
            </a:r>
            <a:endParaRPr lang="zh-TW" sz="1200"/>
          </a:p>
          <a:p>
            <a:r>
              <a:rPr lang="zh-TW" sz="1200" dirty="0"/>
              <a:t>啟動後，可以在 log 裡看到 SAT_MISSION_HK。bridge 會把它轉成 UDP 2234 的 telemetry。地面站的 Telemetry System 裡可以打開 Satellite Mission HK 頁面，看到 command counter、error counter、mission mode、mission status、uptime、payload samples 和 battery percent。</a:t>
            </a:r>
            <a:endParaRPr lang="zh-TW" sz="1200"/>
          </a:p>
          <a:p>
            <a:r>
              <a:rPr lang="zh-TW" sz="1200" dirty="0"/>
              <a:t>如果從 GroundSystem 的 Command System 發送 Satellite Mission 的 Mission No-Op，bridge 會收到 packet id 0x1882，command code 0，然後回傳 command accepted 的 telemetry。這時 telemetry 裡的 command counter 會增加，表示 command path 在 POC 層級已經接通。</a:t>
            </a:r>
            <a:endParaRPr lang="zh-TW" sz="1200"/>
          </a:p>
          <a:p>
            <a:r>
              <a:rPr lang="zh-TW" sz="1200" dirty="0"/>
              <a:t>所以目前展示重點是：FreeRTOS 衛星端會產生任務遙測，地面站可以接收；地面站送出的命令也能被 bridge 接收並回傳 ACK。</a:t>
            </a:r>
            <a:endParaRPr lang="zh-TW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1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zh-TW" sz="1200" dirty="0"/>
              <a:t>最後這一頁說明目前限制和下一步。</a:t>
            </a:r>
            <a:endParaRPr lang="zh-TW" sz="1200"/>
          </a:p>
          <a:p>
            <a:r>
              <a:rPr lang="zh-TW" sz="1200" dirty="0"/>
              <a:t>目前最大的限制是，這還不是完整的 native flight command path。也就是說，command packet 目前是由 host-side bridge 接收並回 ACK，還沒有真正注入到 FreeRTOS image 裡的 cFE Software Bus。</a:t>
            </a:r>
            <a:endParaRPr lang="zh-TW" sz="1200"/>
          </a:p>
          <a:p>
            <a:r>
              <a:rPr lang="zh-TW" sz="1200" dirty="0"/>
              <a:t>原因是目前這個 FreeRTOS OSAL socket layer 還是 stub，OS_SocketSendTo 和 OS_SocketRecvFrom 這類功能尚未實作。因此還不能直接在 FreeRTOS flight image 裡跑像 Ubuntu cFS 那樣的 CI_LAB 和 TO_LAB socket path。</a:t>
            </a:r>
            <a:endParaRPr lang="zh-TW" sz="1200"/>
          </a:p>
          <a:p>
            <a:r>
              <a:rPr lang="zh-TW" sz="1200" dirty="0"/>
              <a:t>下一步有兩個可能方向。第一個方向是實作 FreeRTOS target 的 OSAL socket，讓 CI_LAB 和 TO_LAB 可以 native 運作。第二個方向是做 UART RX command ingest，也就是透過 QEMU UART 把地面站 command 傳進 FreeRTOS，再轉進 cFE Software Bus。</a:t>
            </a:r>
            <a:endParaRPr lang="zh-TW" sz="1200"/>
          </a:p>
          <a:p>
            <a:r>
              <a:rPr lang="zh-TW" sz="1200" dirty="0"/>
              <a:t>之後也可以把目前的 host bridge telemetry path 改成 native TO_LAB-style UDP telemetry，並擴充更多 mission command 和 packet definition。</a:t>
            </a:r>
            <a:endParaRPr lang="zh-TW" sz="1200"/>
          </a:p>
          <a:p>
            <a:r>
              <a:rPr lang="zh-TW" sz="1200" dirty="0"/>
              <a:t>總結來說，目前已經從「cFE 能不能在 FreeRTOS boot」推進到「mission app 能跑、能產生任務遙測、能接回 cFS-GroundSystem 展示」。下一階段的重點會是把 command/telemetry 從 POC bridge 推進到 FreeRTOS flight image 的 native 路徑。</a:t>
            </a:r>
            <a:endParaRPr lang="zh-TW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3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4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5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6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143000"/>
            <a:ext cx="6400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142743"/>
                </a:solidFill>
                <a:latin typeface="Microsoft JhengHei"/>
              </a:rPr>
              <a:t>研究進度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74519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008479"/>
                </a:solidFill>
                <a:latin typeface="Microsoft JhengHei"/>
              </a:rPr>
              <a:t>cFS</a:t>
            </a:r>
            <a:r>
              <a:rPr sz="2000" b="1" dirty="0">
                <a:solidFill>
                  <a:srgbClr val="008479"/>
                </a:solidFill>
                <a:latin typeface="Microsoft JhengHei"/>
              </a:rPr>
              <a:t> </a:t>
            </a:r>
            <a:r>
              <a:rPr sz="2000" b="1" dirty="0" err="1">
                <a:solidFill>
                  <a:srgbClr val="008479"/>
                </a:solidFill>
                <a:latin typeface="Microsoft JhengHei"/>
              </a:rPr>
              <a:t>衛星系統</a:t>
            </a:r>
            <a:r>
              <a:rPr sz="2000" b="1" dirty="0">
                <a:solidFill>
                  <a:srgbClr val="008479"/>
                </a:solidFill>
                <a:latin typeface="Microsoft JhengHei"/>
              </a:rPr>
              <a:t> </a:t>
            </a:r>
            <a:r>
              <a:rPr sz="2000" b="1" dirty="0" err="1">
                <a:solidFill>
                  <a:srgbClr val="008479"/>
                </a:solidFill>
                <a:latin typeface="Microsoft JhengHei"/>
              </a:rPr>
              <a:t>FreeRTOS</a:t>
            </a:r>
            <a:r>
              <a:rPr sz="2000" b="1" dirty="0">
                <a:solidFill>
                  <a:srgbClr val="008479"/>
                </a:solidFill>
                <a:latin typeface="Microsoft JhengHei"/>
              </a:rPr>
              <a:t> POC </a:t>
            </a:r>
            <a:r>
              <a:rPr sz="2000" b="1" dirty="0" err="1">
                <a:solidFill>
                  <a:srgbClr val="008479"/>
                </a:solidFill>
                <a:latin typeface="Microsoft JhengHei"/>
              </a:rPr>
              <a:t>與地面站串接</a:t>
            </a:r>
            <a:endParaRPr sz="2000" b="1" dirty="0">
              <a:solidFill>
                <a:srgbClr val="008479"/>
              </a:solidFill>
              <a:latin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42A34"/>
                </a:solidFill>
                <a:latin typeface="Microsoft JhengHei"/>
              </a:defRPr>
            </a:pPr>
            <a:r>
              <a:rPr dirty="0" err="1"/>
              <a:t>目標：將原本</a:t>
            </a:r>
            <a:r>
              <a:rPr dirty="0"/>
              <a:t> Ubuntu ARM64 </a:t>
            </a:r>
            <a:r>
              <a:rPr dirty="0" err="1"/>
              <a:t>衛星</a:t>
            </a:r>
            <a:r>
              <a:rPr dirty="0"/>
              <a:t> VM 的 </a:t>
            </a:r>
            <a:r>
              <a:rPr dirty="0" err="1"/>
              <a:t>cFS</a:t>
            </a:r>
            <a:r>
              <a:rPr dirty="0"/>
              <a:t> </a:t>
            </a:r>
            <a:r>
              <a:rPr dirty="0" err="1"/>
              <a:t>概念，驗證到</a:t>
            </a:r>
            <a:r>
              <a:rPr dirty="0"/>
              <a:t> </a:t>
            </a:r>
            <a:r>
              <a:rPr dirty="0" err="1"/>
              <a:t>FreeRTOS</a:t>
            </a:r>
            <a:r>
              <a:rPr dirty="0"/>
              <a:t>/QEMU</a:t>
            </a:r>
          </a:p>
          <a:p>
            <a:pPr>
              <a:spcAft>
                <a:spcPts val="800"/>
              </a:spcAft>
              <a:defRPr sz="1800">
                <a:solidFill>
                  <a:srgbClr val="242A34"/>
                </a:solidFill>
                <a:latin typeface="Microsoft JhengHei"/>
              </a:defRPr>
            </a:pPr>
            <a:r>
              <a:rPr dirty="0" err="1"/>
              <a:t>目前：cFE</a:t>
            </a:r>
            <a:r>
              <a:rPr dirty="0"/>
              <a:t> </a:t>
            </a:r>
            <a:r>
              <a:rPr dirty="0" err="1"/>
              <a:t>可啟動</a:t>
            </a:r>
            <a:r>
              <a:rPr dirty="0"/>
              <a:t> mission </a:t>
            </a:r>
            <a:r>
              <a:rPr dirty="0" err="1"/>
              <a:t>app，並以</a:t>
            </a:r>
            <a:r>
              <a:rPr dirty="0"/>
              <a:t> </a:t>
            </a:r>
            <a:r>
              <a:rPr dirty="0" err="1"/>
              <a:t>GroundSystem</a:t>
            </a:r>
            <a:r>
              <a:rPr dirty="0"/>
              <a:t> </a:t>
            </a:r>
            <a:r>
              <a:rPr dirty="0" err="1"/>
              <a:t>接收遙測與命令</a:t>
            </a:r>
            <a:r>
              <a:rPr dirty="0"/>
              <a:t> 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234440"/>
            <a:ext cx="3246120" cy="1097280"/>
          </a:xfrm>
          <a:prstGeom prst="roundRect">
            <a:avLst/>
          </a:prstGeom>
          <a:solidFill>
            <a:srgbClr val="142743"/>
          </a:solidFill>
          <a:ln>
            <a:solidFill>
              <a:srgbClr val="14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FreeRTOS
QEMU Cortex-M3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2788920"/>
            <a:ext cx="2423160" cy="713232"/>
          </a:xfrm>
          <a:prstGeom prst="roundRect">
            <a:avLst/>
          </a:prstGeom>
          <a:solidFill>
            <a:srgbClr val="008479"/>
          </a:solidFill>
          <a:ln>
            <a:solidFill>
              <a:srgbClr val="008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cFE</a:t>
            </a:r>
            <a:r>
              <a:rPr sz="1600" b="1" dirty="0">
                <a:solidFill>
                  <a:srgbClr val="FFFFFF"/>
                </a:solidFill>
                <a:latin typeface="Microsoft JhengHei"/>
              </a:rPr>
              <a:t> / OSAL / PSP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160520"/>
            <a:ext cx="3246120" cy="868680"/>
          </a:xfrm>
          <a:prstGeom prst="roundRect">
            <a:avLst/>
          </a:prstGeom>
          <a:solidFill>
            <a:srgbClr val="509453"/>
          </a:solidFill>
          <a:ln>
            <a:solidFill>
              <a:srgbClr val="50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cFS-GroundSystem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55480" y="2331720"/>
            <a:ext cx="0" cy="457200"/>
          </a:xfrm>
          <a:prstGeom prst="line">
            <a:avLst/>
          </a:prstGeom>
          <a:ln w="19050">
            <a:solidFill>
              <a:srgbClr val="0084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555480" y="3502152"/>
            <a:ext cx="0" cy="658368"/>
          </a:xfrm>
          <a:prstGeom prst="line">
            <a:avLst/>
          </a:prstGeom>
          <a:ln w="19050">
            <a:solidFill>
              <a:srgbClr val="5094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743"/>
                </a:solidFill>
                <a:latin typeface="Microsoft JhengHei"/>
              </a:rPr>
              <a:t>研究目標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43000" cy="4572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874"/>
                </a:solidFill>
                <a:latin typeface="Microsoft JhengHei"/>
              </a:rPr>
              <a:t>從可開機，推進到可展示的衛星任務資料流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691640"/>
          </a:xfrm>
          <a:prstGeom prst="rect">
            <a:avLst/>
          </a:prstGeom>
          <a:solidFill>
            <a:srgbClr val="DC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原系統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29260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Ubuntu ARM64 VM
作為衛星端執行環境
依賴 Linux socket / filesystem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169164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老師要求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11680"/>
            <a:ext cx="29260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把衛星端作業系統方向
切到 FreeRTOS
保留 cFS/cFE 核心概念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73152" cy="1691640"/>
          </a:xfrm>
          <a:prstGeom prst="rect">
            <a:avLst/>
          </a:prstGeom>
          <a:solidFill>
            <a:srgbClr val="50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本次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011680"/>
            <a:ext cx="29260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QEMU mps2-an385 Cortex-M3
FreeRTOS + cFE
mission app + 地面站資料流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2A34"/>
                </a:solidFill>
                <a:latin typeface="Microsoft JhengHei"/>
              </a:defRPr>
            </a:pPr>
            <a:r>
              <a:t>驗證 cFE 在 FreeRTOS target 可進入 OPERATIONAL</a:t>
            </a:r>
          </a:p>
          <a:p>
            <a:pPr>
              <a:spcAft>
                <a:spcPts val="800"/>
              </a:spcAft>
              <a:defRPr sz="1700">
                <a:solidFill>
                  <a:srgbClr val="242A34"/>
                </a:solidFill>
                <a:latin typeface="Microsoft JhengHei"/>
              </a:defRPr>
            </a:pPr>
            <a:r>
              <a:t>補上 /cf startup script 與 static mission app</a:t>
            </a:r>
          </a:p>
          <a:p>
            <a:pPr>
              <a:spcAft>
                <a:spcPts val="800"/>
              </a:spcAft>
              <a:defRPr sz="1700">
                <a:solidFill>
                  <a:srgbClr val="242A34"/>
                </a:solidFill>
                <a:latin typeface="Microsoft JhengHei"/>
              </a:defRPr>
            </a:pPr>
            <a:r>
              <a:t>用 host-side bridge 先接回 cFS-GroundSystem</a:t>
            </a:r>
          </a:p>
          <a:p>
            <a:pPr>
              <a:spcAft>
                <a:spcPts val="800"/>
              </a:spcAft>
              <a:defRPr sz="1700">
                <a:solidFill>
                  <a:srgbClr val="242A34"/>
                </a:solidFill>
                <a:latin typeface="Microsoft JhengHei"/>
              </a:defRPr>
            </a:pPr>
            <a:r>
              <a:t>清楚標出目前尚未 native 化的部分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743"/>
                </a:solidFill>
                <a:latin typeface="Microsoft JhengHei"/>
              </a:rPr>
              <a:t>目前架構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43000" cy="4572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874"/>
                </a:solidFill>
                <a:latin typeface="Microsoft JhengHei"/>
              </a:rPr>
              <a:t>FreeRTOS 衛星端 + host bridge + cFS-GroundSystem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240280" cy="777240"/>
          </a:xfrm>
          <a:prstGeom prst="roundRect">
            <a:avLst/>
          </a:prstGeom>
          <a:solidFill>
            <a:srgbClr val="509453"/>
          </a:solidFill>
          <a:ln>
            <a:solidFill>
              <a:srgbClr val="50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cFS-GroundSystem
PyQt GUI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240280" cy="658368"/>
          </a:xfrm>
          <a:prstGeom prst="roundRect">
            <a:avLst/>
          </a:prstGeom>
          <a:solidFill>
            <a:srgbClr val="509453"/>
          </a:solidFill>
          <a:ln>
            <a:solidFill>
              <a:srgbClr val="50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Command GUI
UDP 1234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94760"/>
            <a:ext cx="2240280" cy="658368"/>
          </a:xfrm>
          <a:prstGeom prst="roundRect">
            <a:avLst/>
          </a:prstGeom>
          <a:solidFill>
            <a:srgbClr val="509453"/>
          </a:solidFill>
          <a:ln>
            <a:solidFill>
              <a:srgbClr val="50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Telemetry GUI
UDP 2234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423160"/>
            <a:ext cx="2788920" cy="1234440"/>
          </a:xfrm>
          <a:prstGeom prst="roundRect">
            <a:avLst/>
          </a:prstGeom>
          <a:solidFill>
            <a:srgbClr val="008479"/>
          </a:solidFill>
          <a:ln>
            <a:solidFill>
              <a:srgbClr val="008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satellite-ground-bridge.py
host-side POC 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143000"/>
            <a:ext cx="2834640" cy="713232"/>
          </a:xfrm>
          <a:prstGeom prst="roundRect">
            <a:avLst/>
          </a:prstGeom>
          <a:solidFill>
            <a:srgbClr val="142743"/>
          </a:solidFill>
          <a:ln>
            <a:solidFill>
              <a:srgbClr val="14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QEMU ARM Cortex-M3
mps2-an385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148840"/>
            <a:ext cx="2834640" cy="713232"/>
          </a:xfrm>
          <a:prstGeom prst="roundRect">
            <a:avLst/>
          </a:prstGeom>
          <a:solidFill>
            <a:srgbClr val="142743"/>
          </a:solidFill>
          <a:ln>
            <a:solidFill>
              <a:srgbClr val="14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FreeRTOS image
core-mps2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154680"/>
            <a:ext cx="2834640" cy="713232"/>
          </a:xfrm>
          <a:prstGeom prst="roundRect">
            <a:avLst/>
          </a:prstGeom>
          <a:solidFill>
            <a:srgbClr val="008479"/>
          </a:solidFill>
          <a:ln>
            <a:solidFill>
              <a:srgbClr val="008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cFE + OSAL + PSP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4160520"/>
            <a:ext cx="2834640" cy="713232"/>
          </a:xfrm>
          <a:prstGeom prst="roundRect">
            <a:avLst/>
          </a:prstGeom>
          <a:solidFill>
            <a:srgbClr val="509453"/>
          </a:solidFill>
          <a:ln>
            <a:solidFill>
              <a:srgbClr val="50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SAT_SAMPLE_APP
Satellite Mission HK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3063240"/>
            <a:ext cx="1234440" cy="0"/>
          </a:xfrm>
          <a:prstGeom prst="line">
            <a:avLst/>
          </a:prstGeom>
          <a:ln w="19050">
            <a:solidFill>
              <a:srgbClr val="0084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49440" y="3063240"/>
            <a:ext cx="1325880" cy="1435608"/>
          </a:xfrm>
          <a:prstGeom prst="line">
            <a:avLst/>
          </a:prstGeom>
          <a:ln w="19050">
            <a:solidFill>
              <a:srgbClr val="0084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6949440" y="3063240"/>
            <a:ext cx="1325880" cy="1435608"/>
          </a:xfrm>
          <a:prstGeom prst="line">
            <a:avLst/>
          </a:prstGeom>
          <a:ln w="19050">
            <a:solidFill>
              <a:srgbClr val="DC97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926080" y="3246120"/>
            <a:ext cx="1234440" cy="868680"/>
          </a:xfrm>
          <a:prstGeom prst="line">
            <a:avLst/>
          </a:prstGeom>
          <a:ln w="19050">
            <a:solidFill>
              <a:srgbClr val="DC97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71800" y="276148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4"/>
                </a:solidFill>
                <a:latin typeface="Microsoft JhengHei"/>
              </a:rPr>
              <a:t>命令：0x1882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88620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4"/>
                </a:solidFill>
                <a:latin typeface="Microsoft JhengHei"/>
              </a:rPr>
              <a:t>遙測：0x883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743"/>
                </a:solidFill>
                <a:latin typeface="Microsoft JhengHei"/>
              </a:rPr>
              <a:t>已完成項目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43000" cy="4572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874"/>
                </a:solidFill>
                <a:latin typeface="Microsoft JhengHei"/>
              </a:rPr>
              <a:t>目前已經能展示的部分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325880"/>
          </a:xfrm>
          <a:prstGeom prst="rect">
            <a:avLst/>
          </a:prstGeom>
          <a:solidFill>
            <a:srgbClr val="50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1. FreeRTOS cFE boot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cFE 在 QEMU Cortex-M3 上啟動
進入 OPERATIONAL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1325880"/>
          </a:xfrm>
          <a:prstGeom prst="rect">
            <a:avLst/>
          </a:prstGeom>
          <a:solidFill>
            <a:srgbClr val="50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2. /cf startup 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288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嵌入 /cf/cfe_es_startup.scr
啟動 SAT_SAMPLE_APP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325880"/>
          </a:xfrm>
          <a:prstGeom prst="rect">
            <a:avLst/>
          </a:prstGeom>
          <a:solidFill>
            <a:srgbClr val="50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3. Mission app 行為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288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SAFE -&gt; NOMINAL mode
輸出 uptime / payload / battery HK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154680"/>
            <a:ext cx="73152" cy="132588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3192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4. Static loader 補強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7490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FreeRTOS loader stub 可查 static module/symbol
解決無 dynamic loader 問題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1546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154680"/>
            <a:ext cx="73152" cy="132588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3192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5. Ground bridge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7490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console telemetry -&gt; UDP 2234
UDP 1234 command -&gt; ACK telemetry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1546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154680"/>
            <a:ext cx="73152" cy="132588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33192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6. GroundSystem 頁面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7490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新增 Satellite Mission HK
新增 Satellite Mission command entry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743"/>
                </a:solidFill>
                <a:latin typeface="Microsoft JhengHei"/>
              </a:rPr>
              <a:t>展示流程與驗證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43000" cy="4572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5636" y="1234440"/>
            <a:ext cx="589372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4"/>
                </a:solidFill>
                <a:latin typeface="Microsoft JhengHei"/>
              </a:defRPr>
            </a:pPr>
            <a:r>
              <a:rPr dirty="0"/>
              <a:t>Terminal 1：cd ~/</a:t>
            </a:r>
            <a:r>
              <a:rPr dirty="0" err="1"/>
              <a:t>cFS-GroundSystem</a:t>
            </a:r>
            <a:r>
              <a:rPr dirty="0"/>
              <a:t> &amp;&amp; python3 GroundSystem.py</a:t>
            </a:r>
          </a:p>
          <a:p>
            <a:pPr>
              <a:spcAft>
                <a:spcPts val="800"/>
              </a:spcAft>
              <a:defRPr sz="1600">
                <a:solidFill>
                  <a:srgbClr val="242A34"/>
                </a:solidFill>
                <a:latin typeface="Microsoft JhengHei"/>
              </a:defRPr>
            </a:pPr>
            <a:r>
              <a:rPr dirty="0"/>
              <a:t>Terminal 2：cd ~/</a:t>
            </a:r>
            <a:r>
              <a:rPr dirty="0" err="1"/>
              <a:t>cfs</a:t>
            </a:r>
            <a:r>
              <a:rPr dirty="0"/>
              <a:t>-</a:t>
            </a:r>
            <a:r>
              <a:rPr dirty="0" err="1"/>
              <a:t>freertos</a:t>
            </a:r>
            <a:r>
              <a:rPr dirty="0"/>
              <a:t>-satellite &amp;&amp; ./start-satellite-freertos-poc.sh</a:t>
            </a:r>
          </a:p>
          <a:p>
            <a:pPr>
              <a:spcAft>
                <a:spcPts val="800"/>
              </a:spcAft>
              <a:defRPr sz="1600">
                <a:solidFill>
                  <a:srgbClr val="242A34"/>
                </a:solidFill>
                <a:latin typeface="Microsoft JhengHei"/>
              </a:defRPr>
            </a:pPr>
            <a:r>
              <a:rPr dirty="0" err="1"/>
              <a:t>GroundSystem</a:t>
            </a:r>
            <a:r>
              <a:rPr dirty="0"/>
              <a:t> </a:t>
            </a:r>
            <a:r>
              <a:rPr dirty="0" err="1"/>
              <a:t>Telemetry：開</a:t>
            </a:r>
            <a:r>
              <a:rPr dirty="0"/>
              <a:t> Satellite Mission HK</a:t>
            </a:r>
          </a:p>
          <a:p>
            <a:pPr>
              <a:spcAft>
                <a:spcPts val="800"/>
              </a:spcAft>
              <a:defRPr sz="1600">
                <a:solidFill>
                  <a:srgbClr val="242A34"/>
                </a:solidFill>
                <a:latin typeface="Microsoft JhengHei"/>
              </a:defRPr>
            </a:pPr>
            <a:r>
              <a:rPr dirty="0" err="1"/>
              <a:t>GroundSystem</a:t>
            </a:r>
            <a:r>
              <a:rPr dirty="0"/>
              <a:t> </a:t>
            </a:r>
            <a:r>
              <a:rPr dirty="0" err="1"/>
              <a:t>Command：送</a:t>
            </a:r>
            <a:r>
              <a:rPr dirty="0"/>
              <a:t> Satellite Mission / Mission No-Op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4983480" cy="2331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234440"/>
            <a:ext cx="73152" cy="2331720"/>
          </a:xfrm>
          <a:prstGeom prst="rect">
            <a:avLst/>
          </a:prstGeom>
          <a:solidFill>
            <a:srgbClr val="DC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39903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驗證 log 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828800"/>
            <a:ext cx="466344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SAT_MISSION_HK,1,0,0,1,0,1,0,97
[bridge] UDP telemetry -&gt; 127.0.0.1:2234 ...
[bridge] UDP command &lt;- ... pkt=0x1882 cc=0 accepted
[bridge] UDP telemetry -&gt; ... reason=command-accepted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199"/>
            <a:ext cx="10515600" cy="18287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73152" cy="1828798"/>
          </a:xfrm>
          <a:prstGeom prst="rect">
            <a:avLst/>
          </a:prstGeom>
          <a:solidFill>
            <a:srgbClr val="50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4050791"/>
            <a:ext cx="10195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GroundSystem 顯示欄位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480560"/>
            <a:ext cx="10195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Command Counter
Error Counter
Mission Mode：BOOT / SAFE / NOMINAL
Mission Status：OK / LOW_BAT / CMD_ERR
Uptime Seconds / Payload Samples / Battery Percent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743"/>
                </a:solidFill>
                <a:latin typeface="Microsoft JhengHei"/>
              </a:rPr>
              <a:t>限制與下一步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43000" cy="4572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874"/>
                </a:solidFill>
                <a:latin typeface="Microsoft JhengHei"/>
              </a:rPr>
              <a:t>目前是 POC bridge，下一步要往 native flight path 推進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2834640"/>
          </a:xfrm>
          <a:prstGeom prst="rect">
            <a:avLst/>
          </a:prstGeom>
          <a:solidFill>
            <a:srgbClr val="BE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目前限制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480060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FreeRTOS OSAL socket layer 還是 stub
命令目前由 host bridge 接收並回 ACK
尚未把 command packet 注入 cFE Software Bus
filesystem 仍以 embedded startup script 為主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1206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73152" cy="283464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39903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下一步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28800"/>
            <a:ext cx="480060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1. 實作 native command ingest：UART RX 或 OSAL sockets
2. 將 telemetry 改成 TO_LAB-style native UDP
3. 擴充 mission command 與 packet definition
4. 評估 /cf filesystem 是否完整化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800600"/>
            <a:ext cx="9921240" cy="685800"/>
          </a:xfrm>
          <a:prstGeom prst="roundRect">
            <a:avLst/>
          </a:prstGeom>
          <a:solidFill>
            <a:srgbClr val="142743"/>
          </a:solidFill>
          <a:ln>
            <a:solidFill>
              <a:srgbClr val="14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結論：已從「能 boot」推進到「可展示任務資料流與地面站串接」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512</Words>
  <Application>Microsoft Office PowerPoint</Application>
  <PresentationFormat>寬螢幕</PresentationFormat>
  <Paragraphs>67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YJCheng</cp:lastModifiedBy>
  <cp:revision>3</cp:revision>
  <dcterms:created xsi:type="dcterms:W3CDTF">2013-01-27T09:14:16Z</dcterms:created>
  <dcterms:modified xsi:type="dcterms:W3CDTF">2026-07-05T09:57:59Z</dcterms:modified>
  <cp:category/>
</cp:coreProperties>
</file>