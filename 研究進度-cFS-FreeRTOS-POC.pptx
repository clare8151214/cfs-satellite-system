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4" d="100"/>
          <a:sy n="104" d="100"/>
        </p:scale>
        <p:origin x="834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1143000"/>
            <a:ext cx="64008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200" b="1">
                <a:solidFill>
                  <a:srgbClr val="142743"/>
                </a:solidFill>
                <a:latin typeface="Microsoft JhengHei"/>
              </a:rPr>
              <a:t>研究進度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9808" y="1874519"/>
            <a:ext cx="68580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 dirty="0" err="1">
                <a:solidFill>
                  <a:srgbClr val="008479"/>
                </a:solidFill>
                <a:latin typeface="Microsoft JhengHei"/>
              </a:rPr>
              <a:t>cFS</a:t>
            </a:r>
            <a:r>
              <a:rPr sz="2000" b="1" dirty="0">
                <a:solidFill>
                  <a:srgbClr val="008479"/>
                </a:solidFill>
                <a:latin typeface="Microsoft JhengHei"/>
              </a:rPr>
              <a:t> </a:t>
            </a:r>
            <a:r>
              <a:rPr sz="2000" b="1" dirty="0" err="1">
                <a:solidFill>
                  <a:srgbClr val="008479"/>
                </a:solidFill>
                <a:latin typeface="Microsoft JhengHei"/>
              </a:rPr>
              <a:t>衛星系統</a:t>
            </a:r>
            <a:r>
              <a:rPr sz="2000" b="1" dirty="0">
                <a:solidFill>
                  <a:srgbClr val="008479"/>
                </a:solidFill>
                <a:latin typeface="Microsoft JhengHei"/>
              </a:rPr>
              <a:t> </a:t>
            </a:r>
            <a:r>
              <a:rPr sz="2000" b="1" dirty="0" err="1">
                <a:solidFill>
                  <a:srgbClr val="008479"/>
                </a:solidFill>
                <a:latin typeface="Microsoft JhengHei"/>
              </a:rPr>
              <a:t>FreeRTOS</a:t>
            </a:r>
            <a:r>
              <a:rPr sz="2000" b="1" dirty="0">
                <a:solidFill>
                  <a:srgbClr val="008479"/>
                </a:solidFill>
                <a:latin typeface="Microsoft JhengHei"/>
              </a:rPr>
              <a:t> POC </a:t>
            </a:r>
            <a:r>
              <a:rPr sz="2000" b="1" dirty="0" err="1">
                <a:solidFill>
                  <a:srgbClr val="008479"/>
                </a:solidFill>
                <a:latin typeface="Microsoft JhengHei"/>
              </a:rPr>
              <a:t>與地面站串接</a:t>
            </a:r>
            <a:endParaRPr sz="2000" b="1" dirty="0">
              <a:solidFill>
                <a:srgbClr val="008479"/>
              </a:solidFill>
              <a:latin typeface="Microsoft JhengHe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77240" y="2788920"/>
            <a:ext cx="6675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42A34"/>
                </a:solidFill>
                <a:latin typeface="Microsoft JhengHei"/>
              </a:defRPr>
            </a:pPr>
            <a:r>
              <a:rPr dirty="0" err="1"/>
              <a:t>目標：將原本</a:t>
            </a:r>
            <a:r>
              <a:rPr dirty="0"/>
              <a:t> Ubuntu ARM64 </a:t>
            </a:r>
            <a:r>
              <a:rPr dirty="0" err="1"/>
              <a:t>衛星</a:t>
            </a:r>
            <a:r>
              <a:rPr dirty="0"/>
              <a:t> VM 的 </a:t>
            </a:r>
            <a:r>
              <a:rPr dirty="0" err="1"/>
              <a:t>cFS</a:t>
            </a:r>
            <a:r>
              <a:rPr dirty="0"/>
              <a:t> </a:t>
            </a:r>
            <a:r>
              <a:rPr dirty="0" err="1"/>
              <a:t>概念，驗證到</a:t>
            </a:r>
            <a:r>
              <a:rPr dirty="0"/>
              <a:t> </a:t>
            </a:r>
            <a:r>
              <a:rPr dirty="0" err="1"/>
              <a:t>FreeRTOS</a:t>
            </a:r>
            <a:r>
              <a:rPr dirty="0"/>
              <a:t>/QEMU</a:t>
            </a:r>
          </a:p>
          <a:p>
            <a:pPr>
              <a:spcAft>
                <a:spcPts val="800"/>
              </a:spcAft>
              <a:defRPr sz="1800">
                <a:solidFill>
                  <a:srgbClr val="242A34"/>
                </a:solidFill>
                <a:latin typeface="Microsoft JhengHei"/>
              </a:defRPr>
            </a:pPr>
            <a:r>
              <a:rPr dirty="0" err="1"/>
              <a:t>目前：cFE</a:t>
            </a:r>
            <a:r>
              <a:rPr dirty="0"/>
              <a:t> </a:t>
            </a:r>
            <a:r>
              <a:rPr dirty="0" err="1"/>
              <a:t>可啟動</a:t>
            </a:r>
            <a:r>
              <a:rPr dirty="0"/>
              <a:t> mission </a:t>
            </a:r>
            <a:r>
              <a:rPr dirty="0" err="1"/>
              <a:t>app，並以</a:t>
            </a:r>
            <a:r>
              <a:rPr dirty="0"/>
              <a:t> </a:t>
            </a:r>
            <a:r>
              <a:rPr dirty="0" err="1"/>
              <a:t>GroundSystem</a:t>
            </a:r>
            <a:r>
              <a:rPr dirty="0"/>
              <a:t> </a:t>
            </a:r>
            <a:r>
              <a:rPr dirty="0" err="1"/>
              <a:t>接收遙測與命令</a:t>
            </a:r>
            <a:r>
              <a:rPr dirty="0"/>
              <a:t> ACK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955279" y="1234440"/>
            <a:ext cx="3246120" cy="1097280"/>
          </a:xfrm>
          <a:prstGeom prst="roundRect">
            <a:avLst/>
          </a:prstGeom>
          <a:solidFill>
            <a:srgbClr val="142743"/>
          </a:solidFill>
          <a:ln>
            <a:solidFill>
              <a:srgbClr val="1427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JhengHei"/>
              </a:rPr>
              <a:t>FreeRTOS
QEMU Cortex-M3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366760" y="2788920"/>
            <a:ext cx="2423160" cy="713232"/>
          </a:xfrm>
          <a:prstGeom prst="roundRect">
            <a:avLst/>
          </a:prstGeom>
          <a:solidFill>
            <a:srgbClr val="008479"/>
          </a:solidFill>
          <a:ln>
            <a:solidFill>
              <a:srgbClr val="0084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 dirty="0" err="1">
                <a:solidFill>
                  <a:srgbClr val="FFFFFF"/>
                </a:solidFill>
                <a:latin typeface="Microsoft JhengHei"/>
              </a:rPr>
              <a:t>cFE</a:t>
            </a:r>
            <a:r>
              <a:rPr sz="1600" b="1" dirty="0">
                <a:solidFill>
                  <a:srgbClr val="FFFFFF"/>
                </a:solidFill>
                <a:latin typeface="Microsoft JhengHei"/>
              </a:rPr>
              <a:t> / OSAL / PSP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79" y="4160520"/>
            <a:ext cx="3246120" cy="868680"/>
          </a:xfrm>
          <a:prstGeom prst="roundRect">
            <a:avLst/>
          </a:prstGeom>
          <a:solidFill>
            <a:srgbClr val="509453"/>
          </a:solidFill>
          <a:ln>
            <a:solidFill>
              <a:srgbClr val="5094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Microsoft JhengHei"/>
              </a:rPr>
              <a:t>cFS-GroundSystem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9555480" y="2331720"/>
            <a:ext cx="0" cy="457200"/>
          </a:xfrm>
          <a:prstGeom prst="line">
            <a:avLst/>
          </a:prstGeom>
          <a:ln w="19050">
            <a:solidFill>
              <a:srgbClr val="0084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9555480" y="3502152"/>
            <a:ext cx="0" cy="658368"/>
          </a:xfrm>
          <a:prstGeom prst="line">
            <a:avLst/>
          </a:prstGeom>
          <a:ln w="19050">
            <a:solidFill>
              <a:srgbClr val="5094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0012680" y="6446520"/>
            <a:ext cx="1645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F6874"/>
                </a:solidFill>
                <a:latin typeface="Microsoft JhengHei"/>
              </a:rPr>
              <a:t>cFS FreeRTOS POC |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110642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42743"/>
                </a:solidFill>
                <a:latin typeface="Microsoft JhengHei"/>
              </a:rPr>
              <a:t>研究目標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96112"/>
            <a:ext cx="1143000" cy="45720"/>
          </a:xfrm>
          <a:prstGeom prst="rect">
            <a:avLst/>
          </a:prstGeom>
          <a:solidFill>
            <a:srgbClr val="0084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783080" y="786384"/>
            <a:ext cx="9875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F6874"/>
                </a:solidFill>
                <a:latin typeface="Microsoft JhengHei"/>
              </a:rPr>
              <a:t>從可開機，推進到可展示的衛星任務資料流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417320"/>
            <a:ext cx="3246120" cy="1691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85800" y="1417320"/>
            <a:ext cx="73152" cy="1691640"/>
          </a:xfrm>
          <a:prstGeom prst="rect">
            <a:avLst/>
          </a:prstGeom>
          <a:solidFill>
            <a:srgbClr val="DC97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86968" y="1581912"/>
            <a:ext cx="292607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42743"/>
                </a:solidFill>
                <a:latin typeface="Microsoft JhengHei"/>
              </a:rPr>
              <a:t>原系統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2011680"/>
            <a:ext cx="2926079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242A34"/>
                </a:solidFill>
                <a:latin typeface="Microsoft JhengHei"/>
              </a:rPr>
              <a:t>Ubuntu ARM64 VM
作為衛星端執行環境
依賴 Linux socket / filesystem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1417320"/>
            <a:ext cx="3246120" cy="1691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480560" y="1417320"/>
            <a:ext cx="73152" cy="1691640"/>
          </a:xfrm>
          <a:prstGeom prst="rect">
            <a:avLst/>
          </a:prstGeom>
          <a:solidFill>
            <a:srgbClr val="0084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681728" y="1581912"/>
            <a:ext cx="292607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42743"/>
                </a:solidFill>
                <a:latin typeface="Microsoft JhengHei"/>
              </a:rPr>
              <a:t>老師要求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81728" y="2011680"/>
            <a:ext cx="2926079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242A34"/>
                </a:solidFill>
                <a:latin typeface="Microsoft JhengHei"/>
              </a:rPr>
              <a:t>把衛星端作業系統方向
切到 FreeRTOS
保留 cFS/cFE 核心概念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75320" y="1417320"/>
            <a:ext cx="3246120" cy="1691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275320" y="1417320"/>
            <a:ext cx="73152" cy="1691640"/>
          </a:xfrm>
          <a:prstGeom prst="rect">
            <a:avLst/>
          </a:prstGeom>
          <a:solidFill>
            <a:srgbClr val="5094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476488" y="1581912"/>
            <a:ext cx="292607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42743"/>
                </a:solidFill>
                <a:latin typeface="Microsoft JhengHei"/>
              </a:rPr>
              <a:t>本次 POC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76488" y="2011680"/>
            <a:ext cx="2926079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242A34"/>
                </a:solidFill>
                <a:latin typeface="Microsoft JhengHei"/>
              </a:rPr>
              <a:t>QEMU mps2-an385 Cortex-M3
FreeRTOS + cFE
mission app + 地面站資料流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794760"/>
            <a:ext cx="102412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242A34"/>
                </a:solidFill>
                <a:latin typeface="Microsoft JhengHei"/>
              </a:defRPr>
            </a:pPr>
            <a:r>
              <a:t>驗證 cFE 在 FreeRTOS target 可進入 OPERATIONAL</a:t>
            </a:r>
          </a:p>
          <a:p>
            <a:pPr>
              <a:spcAft>
                <a:spcPts val="800"/>
              </a:spcAft>
              <a:defRPr sz="1700">
                <a:solidFill>
                  <a:srgbClr val="242A34"/>
                </a:solidFill>
                <a:latin typeface="Microsoft JhengHei"/>
              </a:defRPr>
            </a:pPr>
            <a:r>
              <a:t>補上 /cf startup script 與 static mission app</a:t>
            </a:r>
          </a:p>
          <a:p>
            <a:pPr>
              <a:spcAft>
                <a:spcPts val="800"/>
              </a:spcAft>
              <a:defRPr sz="1700">
                <a:solidFill>
                  <a:srgbClr val="242A34"/>
                </a:solidFill>
                <a:latin typeface="Microsoft JhengHei"/>
              </a:defRPr>
            </a:pPr>
            <a:r>
              <a:t>用 host-side bridge 先接回 cFS-GroundSystem</a:t>
            </a:r>
          </a:p>
          <a:p>
            <a:pPr>
              <a:spcAft>
                <a:spcPts val="800"/>
              </a:spcAft>
              <a:defRPr sz="1700">
                <a:solidFill>
                  <a:srgbClr val="242A34"/>
                </a:solidFill>
                <a:latin typeface="Microsoft JhengHei"/>
              </a:defRPr>
            </a:pPr>
            <a:r>
              <a:t>清楚標出目前尚未 native 化的部分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12680" y="6446520"/>
            <a:ext cx="1645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F6874"/>
                </a:solidFill>
                <a:latin typeface="Microsoft JhengHei"/>
              </a:rPr>
              <a:t>cFS FreeRTOS POC |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110642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42743"/>
                </a:solidFill>
                <a:latin typeface="Microsoft JhengHei"/>
              </a:rPr>
              <a:t>目前架構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96112"/>
            <a:ext cx="1143000" cy="45720"/>
          </a:xfrm>
          <a:prstGeom prst="rect">
            <a:avLst/>
          </a:prstGeom>
          <a:solidFill>
            <a:srgbClr val="0084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783080" y="786384"/>
            <a:ext cx="9875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F6874"/>
                </a:solidFill>
                <a:latin typeface="Microsoft JhengHei"/>
              </a:rPr>
              <a:t>FreeRTOS 衛星端 + host bridge + cFS-GroundSystem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417320"/>
            <a:ext cx="2240280" cy="777240"/>
          </a:xfrm>
          <a:prstGeom prst="roundRect">
            <a:avLst/>
          </a:prstGeom>
          <a:solidFill>
            <a:srgbClr val="509453"/>
          </a:solidFill>
          <a:ln>
            <a:solidFill>
              <a:srgbClr val="5094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JhengHei"/>
              </a:rPr>
              <a:t>cFS-GroundSystem
PyQt GUI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743200"/>
            <a:ext cx="2240280" cy="658368"/>
          </a:xfrm>
          <a:prstGeom prst="roundRect">
            <a:avLst/>
          </a:prstGeom>
          <a:solidFill>
            <a:srgbClr val="509453"/>
          </a:solidFill>
          <a:ln>
            <a:solidFill>
              <a:srgbClr val="5094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JhengHei"/>
              </a:rPr>
              <a:t>Command GUI
UDP 1234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3794760"/>
            <a:ext cx="2240280" cy="658368"/>
          </a:xfrm>
          <a:prstGeom prst="roundRect">
            <a:avLst/>
          </a:prstGeom>
          <a:solidFill>
            <a:srgbClr val="509453"/>
          </a:solidFill>
          <a:ln>
            <a:solidFill>
              <a:srgbClr val="5094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JhengHei"/>
              </a:rPr>
              <a:t>Telemetry GUI
UDP 2234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60520" y="2423160"/>
            <a:ext cx="2788920" cy="1234440"/>
          </a:xfrm>
          <a:prstGeom prst="roundRect">
            <a:avLst/>
          </a:prstGeom>
          <a:solidFill>
            <a:srgbClr val="008479"/>
          </a:solidFill>
          <a:ln>
            <a:solidFill>
              <a:srgbClr val="0084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JhengHei"/>
              </a:rPr>
              <a:t>satellite-ground-bridge.py
host-side POC bridge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75320" y="1143000"/>
            <a:ext cx="2834640" cy="713232"/>
          </a:xfrm>
          <a:prstGeom prst="roundRect">
            <a:avLst/>
          </a:prstGeom>
          <a:solidFill>
            <a:srgbClr val="142743"/>
          </a:solidFill>
          <a:ln>
            <a:solidFill>
              <a:srgbClr val="1427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JhengHei"/>
              </a:rPr>
              <a:t>QEMU ARM Cortex-M3
mps2-an385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75320" y="2148840"/>
            <a:ext cx="2834640" cy="713232"/>
          </a:xfrm>
          <a:prstGeom prst="roundRect">
            <a:avLst/>
          </a:prstGeom>
          <a:solidFill>
            <a:srgbClr val="142743"/>
          </a:solidFill>
          <a:ln>
            <a:solidFill>
              <a:srgbClr val="1427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JhengHei"/>
              </a:rPr>
              <a:t>FreeRTOS image
core-mps2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75320" y="3154680"/>
            <a:ext cx="2834640" cy="713232"/>
          </a:xfrm>
          <a:prstGeom prst="roundRect">
            <a:avLst/>
          </a:prstGeom>
          <a:solidFill>
            <a:srgbClr val="008479"/>
          </a:solidFill>
          <a:ln>
            <a:solidFill>
              <a:srgbClr val="0084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JhengHei"/>
              </a:rPr>
              <a:t>cFE + OSAL + PSP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75320" y="4160520"/>
            <a:ext cx="2834640" cy="713232"/>
          </a:xfrm>
          <a:prstGeom prst="roundRect">
            <a:avLst/>
          </a:prstGeom>
          <a:solidFill>
            <a:srgbClr val="509453"/>
          </a:solidFill>
          <a:ln>
            <a:solidFill>
              <a:srgbClr val="5094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JhengHei"/>
              </a:rPr>
              <a:t>SAT_SAMPLE_APP
Satellite Mission HK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926080" y="3063240"/>
            <a:ext cx="1234440" cy="0"/>
          </a:xfrm>
          <a:prstGeom prst="line">
            <a:avLst/>
          </a:prstGeom>
          <a:ln w="19050">
            <a:solidFill>
              <a:srgbClr val="0084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949440" y="3063240"/>
            <a:ext cx="1325880" cy="1435608"/>
          </a:xfrm>
          <a:prstGeom prst="line">
            <a:avLst/>
          </a:prstGeom>
          <a:ln w="19050">
            <a:solidFill>
              <a:srgbClr val="0084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H="1" flipV="1">
            <a:off x="6949440" y="3063240"/>
            <a:ext cx="1325880" cy="1435608"/>
          </a:xfrm>
          <a:prstGeom prst="line">
            <a:avLst/>
          </a:prstGeom>
          <a:ln w="19050">
            <a:solidFill>
              <a:srgbClr val="DC97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>
            <a:off x="2926080" y="3246120"/>
            <a:ext cx="1234440" cy="868680"/>
          </a:xfrm>
          <a:prstGeom prst="line">
            <a:avLst/>
          </a:prstGeom>
          <a:ln w="19050">
            <a:solidFill>
              <a:srgbClr val="DC97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2971800" y="2761488"/>
            <a:ext cx="1051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F6874"/>
                </a:solidFill>
                <a:latin typeface="Microsoft JhengHei"/>
              </a:rPr>
              <a:t>命令：0x1882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71800" y="3886200"/>
            <a:ext cx="1051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F6874"/>
                </a:solidFill>
                <a:latin typeface="Microsoft JhengHei"/>
              </a:rPr>
              <a:t>遙測：0x883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12680" y="6446520"/>
            <a:ext cx="1645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F6874"/>
                </a:solidFill>
                <a:latin typeface="Microsoft JhengHei"/>
              </a:rPr>
              <a:t>cFS FreeRTOS POC |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110642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42743"/>
                </a:solidFill>
                <a:latin typeface="Microsoft JhengHei"/>
              </a:rPr>
              <a:t>已完成項目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96112"/>
            <a:ext cx="1143000" cy="45720"/>
          </a:xfrm>
          <a:prstGeom prst="rect">
            <a:avLst/>
          </a:prstGeom>
          <a:solidFill>
            <a:srgbClr val="0084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783080" y="786384"/>
            <a:ext cx="9875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F6874"/>
                </a:solidFill>
                <a:latin typeface="Microsoft JhengHei"/>
              </a:rPr>
              <a:t>目前已經能展示的部分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34440"/>
            <a:ext cx="342900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1234440"/>
            <a:ext cx="73152" cy="1325880"/>
          </a:xfrm>
          <a:prstGeom prst="rect">
            <a:avLst/>
          </a:prstGeom>
          <a:solidFill>
            <a:srgbClr val="5094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32688" y="1399032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42743"/>
                </a:solidFill>
                <a:latin typeface="Microsoft JhengHei"/>
              </a:rPr>
              <a:t>1. FreeRTOS cFE boot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1828800"/>
            <a:ext cx="31089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242A34"/>
                </a:solidFill>
                <a:latin typeface="Microsoft JhengHei"/>
              </a:rPr>
              <a:t>cFE 在 QEMU Cortex-M3 上啟動
進入 OPERATIONAL state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234440"/>
            <a:ext cx="342900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389120" y="1234440"/>
            <a:ext cx="73152" cy="1325880"/>
          </a:xfrm>
          <a:prstGeom prst="rect">
            <a:avLst/>
          </a:prstGeom>
          <a:solidFill>
            <a:srgbClr val="5094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90288" y="1399032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42743"/>
                </a:solidFill>
                <a:latin typeface="Microsoft JhengHei"/>
              </a:rPr>
              <a:t>2. /cf startup script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0288" y="1828800"/>
            <a:ext cx="31089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242A34"/>
                </a:solidFill>
                <a:latin typeface="Microsoft JhengHei"/>
              </a:rPr>
              <a:t>嵌入 /cf/cfe_es_startup.scr
啟動 SAT_SAMPLE_APP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234440"/>
            <a:ext cx="342900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046720" y="1234440"/>
            <a:ext cx="73152" cy="1325880"/>
          </a:xfrm>
          <a:prstGeom prst="rect">
            <a:avLst/>
          </a:prstGeom>
          <a:solidFill>
            <a:srgbClr val="5094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47888" y="1399032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42743"/>
                </a:solidFill>
                <a:latin typeface="Microsoft JhengHei"/>
              </a:rPr>
              <a:t>3. Mission app 行為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47888" y="1828800"/>
            <a:ext cx="31089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242A34"/>
                </a:solidFill>
                <a:latin typeface="Microsoft JhengHei"/>
              </a:rPr>
              <a:t>SAFE -&gt; NOMINAL mode
輸出 uptime / payload / battery HK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154680"/>
            <a:ext cx="342900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31520" y="3154680"/>
            <a:ext cx="73152" cy="1325880"/>
          </a:xfrm>
          <a:prstGeom prst="rect">
            <a:avLst/>
          </a:prstGeom>
          <a:solidFill>
            <a:srgbClr val="0084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32688" y="3319272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42743"/>
                </a:solidFill>
                <a:latin typeface="Microsoft JhengHei"/>
              </a:rPr>
              <a:t>4. Static loader 補強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2688" y="3749040"/>
            <a:ext cx="31089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242A34"/>
                </a:solidFill>
                <a:latin typeface="Microsoft JhengHei"/>
              </a:rPr>
              <a:t>FreeRTOS loader stub 可查 static module/symbol
解決無 dynamic loader 問題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89120" y="3154680"/>
            <a:ext cx="342900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389120" y="3154680"/>
            <a:ext cx="73152" cy="1325880"/>
          </a:xfrm>
          <a:prstGeom prst="rect">
            <a:avLst/>
          </a:prstGeom>
          <a:solidFill>
            <a:srgbClr val="0084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590288" y="3319272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42743"/>
                </a:solidFill>
                <a:latin typeface="Microsoft JhengHei"/>
              </a:rPr>
              <a:t>5. Ground bridge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90288" y="3749040"/>
            <a:ext cx="31089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242A34"/>
                </a:solidFill>
                <a:latin typeface="Microsoft JhengHei"/>
              </a:rPr>
              <a:t>console telemetry -&gt; UDP 2234
UDP 1234 command -&gt; ACK telemetry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46720" y="3154680"/>
            <a:ext cx="342900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8046720" y="3154680"/>
            <a:ext cx="73152" cy="1325880"/>
          </a:xfrm>
          <a:prstGeom prst="rect">
            <a:avLst/>
          </a:prstGeom>
          <a:solidFill>
            <a:srgbClr val="0084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247888" y="3319272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42743"/>
                </a:solidFill>
                <a:latin typeface="Microsoft JhengHei"/>
              </a:rPr>
              <a:t>6. GroundSystem 頁面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47888" y="3749040"/>
            <a:ext cx="31089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242A34"/>
                </a:solidFill>
                <a:latin typeface="Microsoft JhengHei"/>
              </a:rPr>
              <a:t>新增 Satellite Mission HK
新增 Satellite Mission command entry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12680" y="6446520"/>
            <a:ext cx="1645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F6874"/>
                </a:solidFill>
                <a:latin typeface="Microsoft JhengHei"/>
              </a:rPr>
              <a:t>cFS FreeRTOS POC |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110642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42743"/>
                </a:solidFill>
                <a:latin typeface="Microsoft JhengHei"/>
              </a:rPr>
              <a:t>展示流程與驗證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96112"/>
            <a:ext cx="1143000" cy="45720"/>
          </a:xfrm>
          <a:prstGeom prst="rect">
            <a:avLst/>
          </a:prstGeom>
          <a:solidFill>
            <a:srgbClr val="0084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5636" y="1234440"/>
            <a:ext cx="5893724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42A34"/>
                </a:solidFill>
                <a:latin typeface="Microsoft JhengHei"/>
              </a:defRPr>
            </a:pPr>
            <a:r>
              <a:rPr dirty="0"/>
              <a:t>Terminal 1：cd ~/</a:t>
            </a:r>
            <a:r>
              <a:rPr dirty="0" err="1"/>
              <a:t>cFS-GroundSystem</a:t>
            </a:r>
            <a:r>
              <a:rPr dirty="0"/>
              <a:t> &amp;&amp; python3 GroundSystem.py</a:t>
            </a:r>
          </a:p>
          <a:p>
            <a:pPr>
              <a:spcAft>
                <a:spcPts val="800"/>
              </a:spcAft>
              <a:defRPr sz="1600">
                <a:solidFill>
                  <a:srgbClr val="242A34"/>
                </a:solidFill>
                <a:latin typeface="Microsoft JhengHei"/>
              </a:defRPr>
            </a:pPr>
            <a:r>
              <a:rPr dirty="0"/>
              <a:t>Terminal 2：cd ~/</a:t>
            </a:r>
            <a:r>
              <a:rPr dirty="0" err="1"/>
              <a:t>cfs</a:t>
            </a:r>
            <a:r>
              <a:rPr dirty="0"/>
              <a:t>-</a:t>
            </a:r>
            <a:r>
              <a:rPr dirty="0" err="1"/>
              <a:t>freertos</a:t>
            </a:r>
            <a:r>
              <a:rPr dirty="0"/>
              <a:t>-satellite &amp;&amp; ./start-satellite-freertos-poc.sh</a:t>
            </a:r>
          </a:p>
          <a:p>
            <a:pPr>
              <a:spcAft>
                <a:spcPts val="800"/>
              </a:spcAft>
              <a:defRPr sz="1600">
                <a:solidFill>
                  <a:srgbClr val="242A34"/>
                </a:solidFill>
                <a:latin typeface="Microsoft JhengHei"/>
              </a:defRPr>
            </a:pPr>
            <a:r>
              <a:rPr dirty="0" err="1"/>
              <a:t>GroundSystem</a:t>
            </a:r>
            <a:r>
              <a:rPr dirty="0"/>
              <a:t> </a:t>
            </a:r>
            <a:r>
              <a:rPr dirty="0" err="1"/>
              <a:t>Telemetry：開</a:t>
            </a:r>
            <a:r>
              <a:rPr dirty="0"/>
              <a:t> Satellite Mission HK</a:t>
            </a:r>
          </a:p>
          <a:p>
            <a:pPr>
              <a:spcAft>
                <a:spcPts val="800"/>
              </a:spcAft>
              <a:defRPr sz="1600">
                <a:solidFill>
                  <a:srgbClr val="242A34"/>
                </a:solidFill>
                <a:latin typeface="Microsoft JhengHei"/>
              </a:defRPr>
            </a:pPr>
            <a:r>
              <a:rPr dirty="0" err="1"/>
              <a:t>GroundSystem</a:t>
            </a:r>
            <a:r>
              <a:rPr dirty="0"/>
              <a:t> </a:t>
            </a:r>
            <a:r>
              <a:rPr dirty="0" err="1"/>
              <a:t>Command：送</a:t>
            </a:r>
            <a:r>
              <a:rPr dirty="0"/>
              <a:t> Satellite Mission / Mission No-Op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234440"/>
            <a:ext cx="4983480" cy="233172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1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309360" y="1234440"/>
            <a:ext cx="73152" cy="2331720"/>
          </a:xfrm>
          <a:prstGeom prst="rect">
            <a:avLst/>
          </a:prstGeom>
          <a:solidFill>
            <a:srgbClr val="DC97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510528" y="1399032"/>
            <a:ext cx="4663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42743"/>
                </a:solidFill>
                <a:latin typeface="Microsoft JhengHei"/>
              </a:rPr>
              <a:t>驗證 log 摘要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10528" y="1828800"/>
            <a:ext cx="4663440" cy="16459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242A34"/>
                </a:solidFill>
                <a:latin typeface="Microsoft JhengHei"/>
              </a:rPr>
              <a:t>SAT_MISSION_HK,1,0,0,1,0,1,0,97
[bridge] UDP telemetry -&gt; 127.0.0.1:2234 ...
[bridge] UDP command &lt;- ... pkt=0x1882 cc=0 accepted
[bridge] UDP telemetry -&gt; ... reason=command-accepted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3886199"/>
            <a:ext cx="10515600" cy="182879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77240" y="3886200"/>
            <a:ext cx="73152" cy="1828798"/>
          </a:xfrm>
          <a:prstGeom prst="rect">
            <a:avLst/>
          </a:prstGeom>
          <a:solidFill>
            <a:srgbClr val="5094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78408" y="4050791"/>
            <a:ext cx="10195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42743"/>
                </a:solidFill>
                <a:latin typeface="Microsoft JhengHei"/>
              </a:rPr>
              <a:t>GroundSystem 顯示欄位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8408" y="4480560"/>
            <a:ext cx="101955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242A34"/>
                </a:solidFill>
                <a:latin typeface="Microsoft JhengHei"/>
              </a:rPr>
              <a:t>Command Counter
Error Counter
Mission Mode：BOOT / SAFE / NOMINAL
Mission Status：OK / LOW_BAT / CMD_ERR
Uptime Seconds / Payload Samples / Battery Percent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12680" y="6446520"/>
            <a:ext cx="1645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F6874"/>
                </a:solidFill>
                <a:latin typeface="Microsoft JhengHei"/>
              </a:rPr>
              <a:t>cFS FreeRTOS POC |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110642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42743"/>
                </a:solidFill>
                <a:latin typeface="Microsoft JhengHei"/>
              </a:rPr>
              <a:t>限制與下一步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96112"/>
            <a:ext cx="1143000" cy="45720"/>
          </a:xfrm>
          <a:prstGeom prst="rect">
            <a:avLst/>
          </a:prstGeom>
          <a:solidFill>
            <a:srgbClr val="0084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783080" y="786384"/>
            <a:ext cx="9875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F6874"/>
                </a:solidFill>
                <a:latin typeface="Microsoft JhengHei"/>
              </a:rPr>
              <a:t>目前是 POC bridge，下一步要往 native flight path 推進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34440"/>
            <a:ext cx="5120640" cy="2834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1234440"/>
            <a:ext cx="73152" cy="2834640"/>
          </a:xfrm>
          <a:prstGeom prst="rect">
            <a:avLst/>
          </a:prstGeom>
          <a:solidFill>
            <a:srgbClr val="BE4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32688" y="1399032"/>
            <a:ext cx="4800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42743"/>
                </a:solidFill>
                <a:latin typeface="Microsoft JhengHei"/>
              </a:rPr>
              <a:t>目前限制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1828800"/>
            <a:ext cx="4800600" cy="2148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242A34"/>
                </a:solidFill>
                <a:latin typeface="Microsoft JhengHei"/>
              </a:rPr>
              <a:t>FreeRTOS OSAL socket layer 還是 stub
命令目前由 host bridge 接收並回 ACK
尚未把 command packet 注入 cFE Software Bus
filesystem 仍以 embedded startup script 為主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234440"/>
            <a:ext cx="5120640" cy="2834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309360" y="1234440"/>
            <a:ext cx="73152" cy="2834640"/>
          </a:xfrm>
          <a:prstGeom prst="rect">
            <a:avLst/>
          </a:prstGeom>
          <a:solidFill>
            <a:srgbClr val="0084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10528" y="1399032"/>
            <a:ext cx="4800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42743"/>
                </a:solidFill>
                <a:latin typeface="Microsoft JhengHei"/>
              </a:rPr>
              <a:t>下一步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10528" y="1828800"/>
            <a:ext cx="4800600" cy="2148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242A34"/>
                </a:solidFill>
                <a:latin typeface="Microsoft JhengHei"/>
              </a:rPr>
              <a:t>1. 實作 native command ingest：UART RX 或 OSAL sockets
2. 將 telemetry 改成 TO_LAB-style native UDP
3. 擴充 mission command 與 packet definition
4. 評估 /cf filesystem 是否完整化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800600"/>
            <a:ext cx="9921240" cy="685800"/>
          </a:xfrm>
          <a:prstGeom prst="roundRect">
            <a:avLst/>
          </a:prstGeom>
          <a:solidFill>
            <a:srgbClr val="142743"/>
          </a:solidFill>
          <a:ln>
            <a:solidFill>
              <a:srgbClr val="1427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JhengHei"/>
              </a:rPr>
              <a:t>結論：已從「能 boot」推進到「可展示任務資料流與地面站串接」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12680" y="6446520"/>
            <a:ext cx="1645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F6874"/>
                </a:solidFill>
                <a:latin typeface="Microsoft JhengHei"/>
              </a:rPr>
              <a:t>cFS FreeRTOS POC | 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512</Words>
  <Application>Microsoft Office PowerPoint</Application>
  <PresentationFormat>寬螢幕</PresentationFormat>
  <Paragraphs>67</Paragraphs>
  <Slides>6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6</vt:i4>
      </vt:variant>
    </vt:vector>
  </HeadingPairs>
  <TitlesOfParts>
    <vt:vector size="10" baseType="lpstr">
      <vt:lpstr>Microsoft JhengHei</vt:lpstr>
      <vt:lpstr>Arial</vt:lpstr>
      <vt:lpstr>Calibri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YJCheng</cp:lastModifiedBy>
  <cp:revision>3</cp:revision>
  <dcterms:created xsi:type="dcterms:W3CDTF">2013-01-27T09:14:16Z</dcterms:created>
  <dcterms:modified xsi:type="dcterms:W3CDTF">2026-07-05T09:57:59Z</dcterms:modified>
  <cp:category/>
</cp:coreProperties>
</file>